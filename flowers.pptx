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ppt/_rels/presentation.xml.rels" ContentType="application/vnd.openxmlformats-package.relationships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4.xml" ContentType="application/vnd.openxmlformats-officedocument.drawingml.chart+xml"/>
  <Override PartName="/ppt/charts/chart3.xml" ContentType="application/vnd.openxmlformats-officedocument.drawingml.chart+xml"/>
  <Override PartName="/ppt/slideLayouts/_rels/slideLayout2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0.xml.rels" ContentType="application/vnd.openxmlformats-package.relationships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presProps.xml" ContentType="application/vnd.openxmlformats-officedocument.presentationml.presProps+xml"/>
  <Override PartName="/ppt/media/image6.jpeg" ContentType="image/jpeg"/>
  <Override PartName="/ppt/media/image5.jpeg" ContentType="image/jpeg"/>
  <Override PartName="/ppt/media/image4.jpeg" ContentType="image/jpeg"/>
  <Override PartName="/ppt/media/image3.jpeg" ContentType="image/jpeg"/>
  <Override PartName="/ppt/media/image1.jpeg" ContentType="image/jpeg"/>
  <Override PartName="/ppt/media/image12.jpeg" ContentType="image/jpeg"/>
  <Override PartName="/ppt/media/image2.jpeg" ContentType="image/jpeg"/>
  <Override PartName="/ppt/media/image11.jpeg" ContentType="image/jpeg"/>
  <Override PartName="/ppt/media/image13.png" ContentType="image/png"/>
  <Override PartName="/ppt/media/image7.jpeg" ContentType="image/jpeg"/>
  <Override PartName="/ppt/media/image10.jpeg" ContentType="image/jpeg"/>
  <Override PartName="/ppt/media/image9.jpeg" ContentType="image/jpeg"/>
  <Override PartName="/ppt/media/image8.jpeg" ContentType="image/jpeg"/>
  <Override PartName="/ppt/presentation.xml" ContentType="application/vnd.openxmlformats-officedocument.presentationml.presentation.main+xml"/>
  <Override PartName="/ppt/theme/theme9.xml" ContentType="application/vnd.openxmlformats-officedocument.theme+xml"/>
  <Override PartName="/ppt/theme/theme16.xml" ContentType="application/vnd.openxmlformats-officedocument.theme+xml"/>
  <Override PartName="/ppt/theme/theme8.xml" ContentType="application/vnd.openxmlformats-officedocument.theme+xml"/>
  <Override PartName="/ppt/theme/theme15.xml" ContentType="application/vnd.openxmlformats-officedocument.theme+xml"/>
  <Override PartName="/ppt/theme/theme7.xml" ContentType="application/vnd.openxmlformats-officedocument.theme+xml"/>
  <Override PartName="/ppt/theme/theme10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5.xml" ContentType="application/vnd.openxmlformats-officedocument.theme+xml"/>
  <Override PartName="/ppt/theme/theme1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6.xml" ContentType="application/vnd.openxmlformats-officedocument.theme+xml"/>
  <Override PartName="/ppt/theme/theme14.xml" ContentType="application/vnd.openxmlformats-officedocument.theme+xml"/>
  <Override PartName="/ppt/theme/theme4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2.xml.rels" ContentType="application/vnd.openxmlformats-package.relationships+xml"/>
  <Override PartName="/ppt/slides/_rels/slide9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10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ffffff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ffffff"/>
                </a:solidFill>
                <a:latin typeface="Calibri"/>
              </a:rPr>
              <a:t>Заглавие диаграммы</a:t>
            </a:r>
          </a:p>
        </c:rich>
      </c:tx>
      <c:layout>
        <c:manualLayout>
          <c:xMode val="edge"/>
          <c:yMode val="edge"/>
          <c:x val="0.675230333097094"/>
          <c:y val="0.904451827242525"/>
        </c:manualLayout>
      </c:layout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004185"/>
            </a:solidFill>
            <a:ln w="0">
              <a:noFill/>
            </a:ln>
          </c:spPr>
          <c:invertIfNegative val="0"/>
          <c:dPt>
            <c:idx val="1"/>
            <c:invertIfNegative val="0"/>
            <c:spPr>
              <a:solidFill>
                <a:srgbClr val="00cccc"/>
              </a:solidFill>
              <a:ln w="0">
                <a:noFill/>
              </a:ln>
            </c:spPr>
          </c:dPt>
          <c:dLbls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5a5a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97814513"/>
        <c:axId val="36617759"/>
      </c:barChart>
      <c:catAx>
        <c:axId val="97814513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ffffff"/>
                </a:solidFill>
                <a:latin typeface="Calibri"/>
              </a:defRPr>
            </a:pPr>
          </a:p>
        </c:txPr>
        <c:crossAx val="36617759"/>
        <c:crosses val="autoZero"/>
        <c:auto val="1"/>
        <c:lblAlgn val="ctr"/>
        <c:lblOffset val="100"/>
        <c:noMultiLvlLbl val="0"/>
      </c:catAx>
      <c:valAx>
        <c:axId val="36617759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97814513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Продажи</a:t>
            </a:r>
          </a:p>
        </c:rich>
      </c:tx>
      <c:overlay val="0"/>
      <c:spPr>
        <a:noFill/>
        <a:ln w="0">
          <a:noFill/>
        </a:ln>
      </c:spPr>
    </c:title>
    <c:autoTitleDeleted val="0"/>
    <c:view3D>
      <c:rotX val="30"/>
      <c:rotY val="0"/>
      <c:rAngAx val="0"/>
      <c:perspective val="30"/>
    </c:view3D>
    <c:floor>
      <c:spPr>
        <a:solidFill>
          <a:srgbClr val="d9d9d9"/>
        </a:solidFill>
        <a:ln w="0">
          <a:noFill/>
        </a:ln>
      </c:spPr>
    </c:floor>
    <c:sideWall>
      <c:spPr>
        <a:solidFill>
          <a:srgbClr val="d9d9d9"/>
        </a:solidFill>
        <a:ln w="0">
          <a:noFill/>
        </a:ln>
      </c:spPr>
    </c:sideWall>
    <c:backWall>
      <c:spPr>
        <a:solidFill>
          <a:srgbClr val="d9d9d9"/>
        </a:solidFill>
        <a:ln w="0">
          <a:noFill/>
        </a:ln>
      </c:spPr>
    </c:backWall>
    <c:plotArea>
      <c:pie3D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explosion val="0"/>
          <c:dPt>
            <c:idx val="0"/>
            <c:spPr>
              <a:solidFill>
                <a:srgbClr val="00cccc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1"/>
            <c:spPr>
              <a:solidFill>
                <a:srgbClr val="1e4590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2"/>
            <c:spPr>
              <a:solidFill>
                <a:srgbClr val="40c0ef"/>
              </a:solidFill>
              <a:ln w="25560">
                <a:solidFill>
                  <a:srgbClr val="ffffff"/>
                </a:solidFill>
                <a:round/>
              </a:ln>
            </c:spPr>
          </c:dPt>
          <c:dPt>
            <c:idx val="3"/>
            <c:spPr>
              <a:solidFill>
                <a:srgbClr val="f0dc81"/>
              </a:solidFill>
              <a:ln w="25560">
                <a:solidFill>
                  <a:srgbClr val="ffffff"/>
                </a:solidFill>
                <a:round/>
              </a:ln>
            </c:spPr>
          </c:dPt>
          <c:dLbls>
            <c:dLbl>
              <c:idx val="0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1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2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dLbl>
              <c:idx val="3"/>
              <c:txPr>
                <a:bodyPr wrap="none"/>
                <a:lstStyle/>
                <a:p>
                  <a:pPr>
                    <a:defRPr b="0" sz="1000" spc="-1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0"/>
              <c:separator> </c:separator>
            </c:dLbl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eparator> </c:separator>
            <c:showLeaderLines val="1"/>
          </c:dLbls>
          <c:cat>
            <c:strRef>
              <c:f>categories</c:f>
              <c:strCache>
                <c:ptCount val="4"/>
                <c:pt idx="0">
                  <c:v>Кв. 1</c:v>
                </c:pt>
                <c:pt idx="1">
                  <c:v>Кв. 2</c:v>
                </c:pt>
                <c:pt idx="2">
                  <c:v>Кв. 3</c:v>
                </c:pt>
                <c:pt idx="3">
                  <c:v>Кв.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</c:pie3DChart>
    </c:plotArea>
    <c:legend>
      <c:legendPos val="b"/>
      <c:overlay val="0"/>
      <c:spPr>
        <a:solidFill>
          <a:srgbClr val="40c0ef"/>
        </a:solidFill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b80b0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5b9bd5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adc5e4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61885016"/>
        <c:axId val="57008709"/>
      </c:barChart>
      <c:catAx>
        <c:axId val="61885016"/>
        <c:scaling>
          <c:orientation val="minMax"/>
        </c:scaling>
        <c:delete val="0"/>
        <c:axPos val="b"/>
        <c:numFmt formatCode="&quot;Основной&quot;" sourceLinked="0"/>
        <c:majorTickMark val="out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7008709"/>
        <c:crosses val="autoZero"/>
        <c:auto val="1"/>
        <c:lblAlgn val="ctr"/>
        <c:lblOffset val="100"/>
        <c:noMultiLvlLbl val="0"/>
      </c:catAx>
      <c:valAx>
        <c:axId val="57008709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61885016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zero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title>
      <c:tx>
        <c:rich>
          <a:bodyPr rot="0"/>
          <a:lstStyle/>
          <a:p>
            <a:pPr>
              <a:defRPr b="0" lang="ru-RU" sz="1860" spc="-1" strike="noStrike">
                <a:solidFill>
                  <a:srgbClr val="595959"/>
                </a:solidFill>
                <a:latin typeface="Calibri"/>
              </a:defRPr>
            </a:pPr>
            <a:r>
              <a:rPr b="0" lang="ru-RU" sz="1860" spc="-1" strike="noStrike">
                <a:solidFill>
                  <a:srgbClr val="595959"/>
                </a:solidFill>
                <a:latin typeface="Calibri"/>
              </a:rPr>
              <a:t>Заглавие диаграммы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40c0ef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rgbClr val="ea7551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2.4</c:v>
                </c:pt>
                <c:pt idx="1">
                  <c:v>4.4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rgbClr val="00cccc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gapWidth val="150"/>
        <c:overlap val="0"/>
        <c:axId val="96763470"/>
        <c:axId val="52604662"/>
      </c:barChart>
      <c:catAx>
        <c:axId val="96763470"/>
        <c:scaling>
          <c:orientation val="minMax"/>
        </c:scaling>
        <c:delete val="0"/>
        <c:axPos val="b"/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52604662"/>
        <c:crosses val="autoZero"/>
        <c:auto val="1"/>
        <c:lblAlgn val="ctr"/>
        <c:lblOffset val="100"/>
        <c:noMultiLvlLbl val="0"/>
      </c:catAx>
      <c:valAx>
        <c:axId val="52604662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&quot;Основной&quot;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lang="ru-RU" sz="1195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96763470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lang="ru-RU" sz="1195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F6AF0D-A59E-49DD-9118-D95ED43E862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4E98368-D8E9-4F83-B167-06A9108EED6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F90CC4B-58D0-49BC-B025-D8849F9E31C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1EC9BFB1-1A97-4907-A451-723C5188433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28C6D746-1925-46B9-AB57-14DDF30EC63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4347E5A4-6B36-4269-A085-0C88ACC7FB4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A272673A-0732-4454-A327-32927A0C8D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387201C0-8F97-4ED8-9D9E-C0BC827E734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5CF90E52-D67F-4E39-91D4-3C2716386C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054A3E25-FFD4-416F-AA02-B0A0FBE0D54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0C37732A-C6E3-4322-93D9-E894B3C228C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943292EC-3CC0-4B1C-8DAC-453511BCF8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Обычный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6C373BB0-1D8F-48F0-85DD-37134079343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BF02931A-A01B-4E3E-8AA2-858D0FA679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Обычный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44"/>
          </p:nvPr>
        </p:nvSpPr>
        <p:spPr/>
        <p:txBody>
          <a:bodyPr/>
          <a:p>
            <a:fld id="{93C1B2B2-62A8-4415-8D49-1E74325EF7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A6EB7446-1554-4210-94E8-81AC9992A93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Обычный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20A4F9E6-8C66-4201-8E3F-61C2BEADFEA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3588FC25-2376-482D-A928-5D664EA4E77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Обычный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F54C8761-D476-4389-845A-CFE058A1B51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F8D823F2-F90A-4578-90BC-22D458F7A9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2BCE70A7-C654-4DDF-92F2-247A2F6510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80AD8E77-D0DE-4867-9AAC-3A7DAD3CBB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2.jpeg"/><Relationship Id="rId3" Type="http://schemas.openxmlformats.org/officeDocument/2006/relationships/chart" Target="../charts/chart1.xml"/><Relationship Id="rId4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2.jpeg"/><Relationship Id="rId3" Type="http://schemas.openxmlformats.org/officeDocument/2006/relationships/chart" Target="../charts/chart2.xml"/><Relationship Id="rId4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2.jpeg"/><Relationship Id="rId3" Type="http://schemas.openxmlformats.org/officeDocument/2006/relationships/chart" Target="../charts/chart3.xml"/><Relationship Id="rId4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2.jpeg"/><Relationship Id="rId3" Type="http://schemas.openxmlformats.org/officeDocument/2006/relationships/chart" Target="../charts/chart4.xml"/><Relationship Id="rId4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D566491-1051-4426-A034-43229142EA2E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11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 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sldNum" idx="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8AC2ADF-B8CE-4375-BF9A-2CCCC104D64C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sldNum" idx="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6C356A0-3CB4-4B94-92AB-DC4A8F45EA32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832950-63B7-4C79-B96C-B1B5BB97331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F526B25-4B8F-4ABC-8954-15A486595397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01CFA93-6890-4A89-AA50-1A251F7978B4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2F08FAF-A209-4FF5-BDE4-12894AA8E9D9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6BCC002-E9CE-42E6-AC1C-2F3D2236BC1B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6E55973-D399-42F7-9322-A5FE59C45E06}" type="slidenum"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sldNum" idx="2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C45958A-BB1A-44AC-AA88-DAE300E4B28F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3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C01D707-6EAA-405A-A689-AE044FE0D1FE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ldNum" idx="3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2EF0B0B-1972-4DE8-8346-6052D7A9CF72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8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C504102-BDC1-4996-9317-4B127EBAEC8B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1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599B51-EA7F-4111-9767-4CEB74C6100D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sldNum" idx="44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A9460B6-582B-4CCC-B1F5-674E60380F83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47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3C0CD40-FB5D-4FB9-B4A5-C079FD23CDB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000000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структуры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Второй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Третий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Четвёртый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Пятый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Шестой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Седьмой уровень структуры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50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7FB42A4-9FD4-4352-8447-DEE6EDB72BC7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ldNum" idx="53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9365BC-D377-48AF-8E31-149BC1D3ECE4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8" name="Диаграмма 8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ru-RU" sz="1800" spc="-1" strike="noStrike">
                <a:solidFill>
                  <a:srgbClr val="ffffff"/>
                </a:solidFill>
                <a:latin typeface="Arial"/>
              </a:rPr>
              <a:t>Для правки текста заглавия щёлкните мышью</a:t>
            </a:r>
            <a:endParaRPr b="0" lang="ru-RU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56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D3A2F1E-8187-4E91-A6DC-41686661E5A1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4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4" name="Диаграмма 7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5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59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D1D0549-F0A5-40F8-AC58-0CFA4145C97B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4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8" name="Диаграмма 10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9" name="PlaceHolder 1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sldNum" idx="62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2C04721-4EBF-4668-A164-3F1EF45C53B5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4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2" name="Диаграмма 11"/>
          <p:cNvGraphicFramePr/>
          <p:nvPr/>
        </p:nvGraphicFramePr>
        <p:xfrm>
          <a:off x="2031840" y="719640"/>
          <a:ext cx="8127000" cy="541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3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&lt;нижний колонтитул&gt;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65"/>
          </p:nvPr>
        </p:nvSpPr>
        <p:spPr>
          <a:xfrm>
            <a:off x="88678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A348E03-F694-42CB-B882-2309AD67FEA2}" type="slidenum"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&lt;номер&gt;</a:t>
            </a:fld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ru-RU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ru-RU" sz="1400" spc="-1" strike="noStrike">
                <a:solidFill>
                  <a:srgbClr val="ffffff"/>
                </a:solidFill>
                <a:latin typeface="Times New Roman"/>
              </a:rPr>
              <a:t>&lt;дата/время&gt;</a:t>
            </a:r>
            <a:endParaRPr b="0" lang="ru-RU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1141200" y="2286000"/>
            <a:ext cx="960408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ru-RU" sz="4400" spc="-1" strike="noStrike">
                <a:solidFill>
                  <a:srgbClr val="034185"/>
                </a:solidFill>
                <a:latin typeface="Montserrat"/>
              </a:rPr>
              <a:t>Праздники Февраля и Марта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4069080" y="4114800"/>
            <a:ext cx="374868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0" lang="ru-RU" sz="2400" spc="-1" strike="noStrike">
                <a:solidFill>
                  <a:srgbClr val="034185"/>
                </a:solidFill>
                <a:latin typeface="Montserrat"/>
              </a:rPr>
              <a:t>23 Февраля и 8 Марта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" descr=""/>
          <p:cNvPicPr/>
          <p:nvPr/>
        </p:nvPicPr>
        <p:blipFill>
          <a:blip r:embed="rId1"/>
          <a:stretch/>
        </p:blipFill>
        <p:spPr>
          <a:xfrm>
            <a:off x="10260000" y="440820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883800" y="1371600"/>
            <a:ext cx="10119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23 Февраля — День защитника Отечества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914400" y="2560320"/>
            <a:ext cx="1005804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Официальный государственный праздник Российской Федерации.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Отмечается ежегодно 23 февраля.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Символизирует мужество, силу и преданность Родине.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Это день уважения к тем, кто охраняет покой и безопасность страны.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3195720" y="1371600"/>
            <a:ext cx="54954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Историческая справка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914400" y="2560320"/>
            <a:ext cx="10058040" cy="19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Праздник ведет историю с 1918 года (День Красной Армии).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Дата выбрана в честь первых массовых боев против немецких войск.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 1995 году получил современное название — День защитника Отечества.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 тех пор традиция чествования военных сохраняется и укрепляется.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3134880" y="1371600"/>
            <a:ext cx="56170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Кого мы поздравляем?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914400" y="2560320"/>
            <a:ext cx="10058040" cy="19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Ветеранов Великой Отечественной войны и локальных конфликтов.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Действующих сотрудников армии, полиции и спецслужб.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Всех мужчин независимо от возраста и профессии.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Каждый мужчина воспринимается как потенциальный защитник семьи.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5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3"/>
          <p:cNvSpPr/>
          <p:nvPr/>
        </p:nvSpPr>
        <p:spPr>
          <a:xfrm>
            <a:off x="2953440" y="1371600"/>
            <a:ext cx="59799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Традиции празднования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914400" y="2560320"/>
            <a:ext cx="1005804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Возложение цветов к памятникам и Вечному огню.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Торжественные парады и военные концерты.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Вручение подарков и поздравительных открыток.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Семейные ужины и встречи с друзьями.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3"/>
          <p:cNvSpPr/>
          <p:nvPr/>
        </p:nvSpPr>
        <p:spPr>
          <a:xfrm>
            <a:off x="2351520" y="1371600"/>
            <a:ext cx="718380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Главные ценности праздника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Box 4"/>
          <p:cNvSpPr/>
          <p:nvPr/>
        </p:nvSpPr>
        <p:spPr>
          <a:xfrm>
            <a:off x="914400" y="2560320"/>
            <a:ext cx="1005804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Патриотизм и любовь к своей стране.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Верность воинскому долгу и присяге.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Защита родных, близких и будущего поколения.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Память о подвигах предков и историческая преемственность.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Box 3"/>
          <p:cNvSpPr/>
          <p:nvPr/>
        </p:nvSpPr>
        <p:spPr>
          <a:xfrm>
            <a:off x="784080" y="1371600"/>
            <a:ext cx="1031868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8 Марта — Международный женский день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Box 4"/>
          <p:cNvSpPr/>
          <p:nvPr/>
        </p:nvSpPr>
        <p:spPr>
          <a:xfrm>
            <a:off x="914400" y="2560320"/>
            <a:ext cx="1005804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Один из самых популярных праздников в мире.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Символ наступления весны, тепла и обновления.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День внимания, любви и благодарности женщинам.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Официальный выходной день во многих странах.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0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3049560" y="1371600"/>
            <a:ext cx="578772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История возникновения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914400" y="2560320"/>
            <a:ext cx="10058040" cy="19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Зародился в начале XX века как день борьбы за права женщин.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Инициатива принадлежала Кларе Цеткин и активисткам движения.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 1975 году ООН официально признала этот день международным.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Со временем акцент сместился с политики на праздник женственности.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Box 3"/>
          <p:cNvSpPr/>
          <p:nvPr/>
        </p:nvSpPr>
        <p:spPr>
          <a:xfrm>
            <a:off x="3125520" y="1371600"/>
            <a:ext cx="56354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Современное значение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Box 4"/>
          <p:cNvSpPr/>
          <p:nvPr/>
        </p:nvSpPr>
        <p:spPr>
          <a:xfrm>
            <a:off x="914400" y="2560320"/>
            <a:ext cx="1005804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Праздник материнства, женственности и красоты.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Признание заслуг женщин в науке, культуре и бизнесе.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Возможность выразить благодарность мамам, женам и дочерям.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Символ равноправия и гармонии в обществе.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Box 3"/>
          <p:cNvSpPr/>
          <p:nvPr/>
        </p:nvSpPr>
        <p:spPr>
          <a:xfrm>
            <a:off x="3373920" y="1371600"/>
            <a:ext cx="51386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Традиции и символы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4"/>
          <p:cNvSpPr/>
          <p:nvPr/>
        </p:nvSpPr>
        <p:spPr>
          <a:xfrm>
            <a:off x="914400" y="2560320"/>
            <a:ext cx="1005804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Главные цветы праздника: тюльпаны, мимозы, розы.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Подарки: от косметики до путешествий и впечатлений.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Теплые слова, стихи и поздравительные речи.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Семейные застолья и прогулки на свежем воздухе.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5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2688120" y="1371600"/>
            <a:ext cx="651024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ru-RU" sz="3200" spc="-1" strike="noStrike">
                <a:solidFill>
                  <a:srgbClr val="034185"/>
                </a:solidFill>
                <a:latin typeface="Montserrat"/>
              </a:rPr>
              <a:t>Пожелания и вдохновение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914400" y="2560320"/>
            <a:ext cx="10058040" cy="169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Крепкого здоровья, душевного тепла и уюта.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Реализации самых смелых планов и мечтаний.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Пусть каждый день приносит радость и вдохновение.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• </a:t>
            </a:r>
            <a:r>
              <a:rPr b="0" lang="ru-RU" sz="2000" spc="-1" strike="noStrike">
                <a:solidFill>
                  <a:srgbClr val="034185"/>
                </a:solidFill>
                <a:latin typeface="Montserrat"/>
              </a:rPr>
              <a:t>Оставайтесь прекрасными, любимыми и счастливыми!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" descr=""/>
          <p:cNvPicPr/>
          <p:nvPr/>
        </p:nvPicPr>
        <p:blipFill>
          <a:blip r:embed="rId1"/>
          <a:stretch/>
        </p:blipFill>
        <p:spPr>
          <a:xfrm>
            <a:off x="10260360" y="4408560"/>
            <a:ext cx="1932120" cy="243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Специальное оформление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LibreOffice/7.6.7.2$Linux_X86_64 LibreOffice_project/60$Build-2</Application>
  <AppVersion>15.0000</AppVersion>
  <Words>141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2020-04-25T15:42:00Z</dcterms:created>
  <dc:creator>Andrey PlP</dc:creator>
  <dc:description/>
  <dc:language>ru-RU</dc:language>
  <cp:lastModifiedBy/>
  <dcterms:modified xsi:type="dcterms:W3CDTF">2026-03-07T11:27:53Z</dcterms:modified>
  <cp:revision>53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FAFB7367369743A481923895EC17D1E5_13</vt:lpwstr>
  </property>
  <property fmtid="{D5CDD505-2E9C-101B-9397-08002B2CF9AE}" pid="3" name="KSOProductBuildVer">
    <vt:lpwstr>1049-12.2.0.19307</vt:lpwstr>
  </property>
  <property fmtid="{D5CDD505-2E9C-101B-9397-08002B2CF9AE}" pid="4" name="PresentationFormat">
    <vt:lpwstr>Произвольный</vt:lpwstr>
  </property>
  <property fmtid="{D5CDD505-2E9C-101B-9397-08002B2CF9AE}" pid="5" name="Slides">
    <vt:i4>11</vt:i4>
  </property>
</Properties>
</file>